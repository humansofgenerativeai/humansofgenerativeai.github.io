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144000" type="custom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header.png"/>
  <Relationship Id="rId2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 Background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" name="Header Artwork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>
          <a:xfrm>
            <a:off x="0" y="0"/>
            <a:ext cx="6858000" cy="2800350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457200" y="640080"/>
            <a:ext cx="560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000" b="1" dirty="0" smtClean="0">
                <a:solidFill>
                  <a:srgbClr val="FFF7ED"/>
                </a:solidFill>
                <a:latin typeface="Arial"/>
              </a:rPr>
              <a:t>CVPR WORKSHOP  |  JUNE 3 OR JUNE 4, 2026  |  DENVER, COLORADO</a:t>
            </a:r>
            <a:endParaRPr lang="en-US" sz="2000"/>
          </a:p>
        </p:txBody>
      </p:sp>
      <p:sp>
        <p:nvSpPr>
          <p:cNvPr id="5" name="Title Line 1"/>
          <p:cNvSpPr txBox="1"/>
          <p:nvPr/>
        </p:nvSpPr>
        <p:spPr>
          <a:xfrm>
            <a:off x="457200" y="1143000"/>
            <a:ext cx="40005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8200" b="1" dirty="0" smtClean="0">
                <a:solidFill>
                  <a:srgbClr val="FFFAF4"/>
                </a:solidFill>
                <a:latin typeface="Georgia"/>
              </a:rPr>
              <a:t>Humans of</a:t>
            </a:r>
            <a:endParaRPr lang="en-US" sz="8200"/>
          </a:p>
        </p:txBody>
      </p:sp>
      <p:sp>
        <p:nvSpPr>
          <p:cNvPr id="6" name="Title Line 2"/>
          <p:cNvSpPr txBox="1"/>
          <p:nvPr/>
        </p:nvSpPr>
        <p:spPr>
          <a:xfrm>
            <a:off x="457200" y="1634490"/>
            <a:ext cx="48006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9800" b="1" dirty="0" smtClean="0">
                <a:solidFill>
                  <a:srgbClr val="FFFAF4"/>
                </a:solidFill>
                <a:latin typeface="Georgia"/>
              </a:rPr>
              <a:t>Generative AI</a:t>
            </a:r>
            <a:endParaRPr lang="en-US" sz="9800"/>
          </a:p>
        </p:txBody>
      </p:sp>
      <p:sp>
        <p:nvSpPr>
          <p:cNvPr id="7" name="Subtitle"/>
          <p:cNvSpPr txBox="1"/>
          <p:nvPr/>
        </p:nvSpPr>
        <p:spPr>
          <a:xfrm>
            <a:off x="457200" y="2183130"/>
            <a:ext cx="5257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3000" b="1" dirty="0" smtClean="0">
                <a:solidFill>
                  <a:srgbClr val="FFF9F0"/>
                </a:solidFill>
                <a:latin typeface="Arial"/>
              </a:rPr>
              <a:t>A workshop on how people use, experience, and are affected by</a:t>
            </a:r>
            <a:endParaRPr lang="en-US" sz="3000"/>
          </a:p>
          <a:p>
            <a:pPr algn="l"/>
            <a:r>
              <a:rPr lang="en-US" sz="3000" b="1" dirty="0" smtClean="0">
                <a:solidFill>
                  <a:srgbClr val="FFF9F0"/>
                </a:solidFill>
                <a:latin typeface="Arial"/>
              </a:rPr>
              <a:t>generative AI and computer vision systems.</a:t>
            </a:r>
            <a:endParaRPr lang="en-US" sz="3000"/>
          </a:p>
        </p:txBody>
      </p:sp>
      <p:sp>
        <p:nvSpPr>
          <p:cNvPr id="8" name="About Header"/>
          <p:cNvSpPr txBox="1"/>
          <p:nvPr/>
        </p:nvSpPr>
        <p:spPr>
          <a:xfrm>
            <a:off x="502920" y="3051810"/>
            <a:ext cx="1828800" cy="160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100" b="1" dirty="0" smtClean="0">
                <a:solidFill>
                  <a:srgbClr val="B86A5C"/>
                </a:solidFill>
                <a:latin typeface="Arial"/>
              </a:rPr>
              <a:t>ABOUT THE WORKSHOP</a:t>
            </a:r>
            <a:endParaRPr lang="en-US" sz="2100"/>
          </a:p>
        </p:txBody>
      </p:sp>
      <p:sp>
        <p:nvSpPr>
          <p:cNvPr id="9" name="About Body"/>
          <p:cNvSpPr txBox="1"/>
          <p:nvPr/>
        </p:nvSpPr>
        <p:spPr>
          <a:xfrm>
            <a:off x="502920" y="3314700"/>
            <a:ext cx="43434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Humans of Generative AI brings together work on how people use, experience,</a:t>
            </a:r>
            <a:endParaRPr lang="en-US" sz="2200"/>
          </a:p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and are affected by generative AI and computer vision systems. The workshop</a:t>
            </a:r>
            <a:endParaRPr lang="en-US" sz="2200"/>
          </a:p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connects human-centered findings to the design, evaluation, and deployment</a:t>
            </a:r>
            <a:endParaRPr lang="en-US" sz="2200"/>
          </a:p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of AI systems.</a:t>
            </a:r>
            <a:endParaRPr lang="en-US" sz="2200"/>
          </a:p>
        </p:txBody>
      </p:sp>
      <p:sp>
        <p:nvSpPr>
          <p:cNvPr id="10" name="Divider 1"/>
          <p:cNvSpPr/>
          <p:nvPr/>
        </p:nvSpPr>
        <p:spPr>
          <a:xfrm>
            <a:off x="548640" y="4320540"/>
            <a:ext cx="5760720" cy="11430"/>
          </a:xfrm>
          <a:prstGeom prst="rect">
            <a:avLst/>
          </a:prstGeom>
          <a:solidFill>
            <a:srgbClr val="E5D9C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CFP Header"/>
          <p:cNvSpPr txBox="1"/>
          <p:nvPr/>
        </p:nvSpPr>
        <p:spPr>
          <a:xfrm>
            <a:off x="502920" y="4343400"/>
            <a:ext cx="2400300" cy="160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100" b="1" dirty="0" smtClean="0">
                <a:solidFill>
                  <a:srgbClr val="B86A5C"/>
                </a:solidFill>
                <a:latin typeface="Arial"/>
              </a:rPr>
              <a:t>CALL FOR PARTICIPATION</a:t>
            </a:r>
            <a:endParaRPr lang="en-US" sz="2100"/>
          </a:p>
        </p:txBody>
      </p:sp>
      <p:sp>
        <p:nvSpPr>
          <p:cNvPr id="12" name="CFP Body"/>
          <p:cNvSpPr txBox="1"/>
          <p:nvPr/>
        </p:nvSpPr>
        <p:spPr>
          <a:xfrm>
            <a:off x="502920" y="4606290"/>
            <a:ext cx="43434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We invite submissions that connect real-world user insights to technical AI</a:t>
            </a:r>
            <a:endParaRPr lang="en-US" sz="2200"/>
          </a:p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design, evaluation, and deployment. Submit a 1-3 page extended abstract.</a:t>
            </a:r>
            <a:endParaRPr lang="en-US" sz="2200"/>
          </a:p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Accepted submissions will be presented as both a poster and a 3-5 minute</a:t>
            </a:r>
            <a:endParaRPr lang="en-US" sz="2200"/>
          </a:p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lightning talk.</a:t>
            </a:r>
            <a:endParaRPr lang="en-US" sz="2200"/>
          </a:p>
        </p:txBody>
      </p:sp>
      <p:sp>
        <p:nvSpPr>
          <p:cNvPr id="13" name="Divider 2"/>
          <p:cNvSpPr/>
          <p:nvPr/>
        </p:nvSpPr>
        <p:spPr>
          <a:xfrm>
            <a:off x="548640" y="5680710"/>
            <a:ext cx="5760720" cy="11430"/>
          </a:xfrm>
          <a:prstGeom prst="rect">
            <a:avLst/>
          </a:prstGeom>
          <a:solidFill>
            <a:srgbClr val="E5D9C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Divider Vertical"/>
          <p:cNvSpPr/>
          <p:nvPr/>
        </p:nvSpPr>
        <p:spPr>
          <a:xfrm>
            <a:off x="3543300" y="5692140"/>
            <a:ext cx="11430" cy="2594610"/>
          </a:xfrm>
          <a:prstGeom prst="rect">
            <a:avLst/>
          </a:prstGeom>
          <a:solidFill>
            <a:srgbClr val="E5D9C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Welcome Header"/>
          <p:cNvSpPr txBox="1"/>
          <p:nvPr/>
        </p:nvSpPr>
        <p:spPr>
          <a:xfrm>
            <a:off x="548640" y="5840730"/>
            <a:ext cx="1943100" cy="160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100" b="1" dirty="0" smtClean="0">
                <a:solidFill>
                  <a:srgbClr val="B86A5C"/>
                </a:solidFill>
                <a:latin typeface="Arial"/>
              </a:rPr>
              <a:t>WE ESPECIALLY WELCOME</a:t>
            </a:r>
            <a:endParaRPr lang="en-US" sz="2100"/>
          </a:p>
        </p:txBody>
      </p:sp>
      <p:sp>
        <p:nvSpPr>
          <p:cNvPr id="16" name="Welcome Body"/>
          <p:cNvSpPr txBox="1"/>
          <p:nvPr/>
        </p:nvSpPr>
        <p:spPr>
          <a:xfrm>
            <a:off x="685800" y="6103620"/>
            <a:ext cx="24003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• Social science findings that should shape</a:t>
            </a:r>
            <a:endParaRPr lang="en-US" sz="2200"/>
          </a:p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  the technical design of AI systems</a:t>
            </a:r>
            <a:endParaRPr lang="en-US" sz="2200"/>
          </a:p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• Technical designs that address unmet</a:t>
            </a:r>
            <a:endParaRPr lang="en-US" sz="2200"/>
          </a:p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  user needs or real-world harms</a:t>
            </a:r>
            <a:endParaRPr lang="en-US" sz="2200"/>
          </a:p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• Evaluation methods grounded in how</a:t>
            </a:r>
            <a:endParaRPr lang="en-US" sz="2200"/>
          </a:p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  people actually use and experience</a:t>
            </a:r>
            <a:endParaRPr lang="en-US" sz="2200"/>
          </a:p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  AI systems</a:t>
            </a:r>
            <a:endParaRPr lang="en-US" sz="2200"/>
          </a:p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• Interdisciplinary work spanning CV, ML, HCI,</a:t>
            </a:r>
            <a:endParaRPr lang="en-US" sz="2200"/>
          </a:p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  safety, security, ethics, and social science</a:t>
            </a:r>
            <a:endParaRPr lang="en-US" sz="2200"/>
          </a:p>
        </p:txBody>
      </p:sp>
      <p:sp>
        <p:nvSpPr>
          <p:cNvPr id="17" name="Dates Header"/>
          <p:cNvSpPr txBox="1"/>
          <p:nvPr/>
        </p:nvSpPr>
        <p:spPr>
          <a:xfrm>
            <a:off x="3771900" y="5840730"/>
            <a:ext cx="1257300" cy="160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100" b="1" dirty="0" smtClean="0">
                <a:solidFill>
                  <a:srgbClr val="B86A5C"/>
                </a:solidFill>
                <a:latin typeface="Arial"/>
              </a:rPr>
              <a:t>KEY DATES</a:t>
            </a:r>
            <a:endParaRPr lang="en-US" sz="2100"/>
          </a:p>
        </p:txBody>
      </p:sp>
      <p:sp>
        <p:nvSpPr>
          <p:cNvPr id="18" name="Dates Note"/>
          <p:cNvSpPr txBox="1"/>
          <p:nvPr/>
        </p:nvSpPr>
        <p:spPr>
          <a:xfrm>
            <a:off x="3771900" y="6103620"/>
            <a:ext cx="2057400" cy="160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200" b="0" dirty="0" smtClean="0">
                <a:solidFill>
                  <a:srgbClr val="7A7067"/>
                </a:solidFill>
                <a:latin typeface="Arial"/>
              </a:rPr>
              <a:t>Submission deadline: (11:59 PM AOE)</a:t>
            </a:r>
            <a:endParaRPr lang="en-US" sz="2200"/>
          </a:p>
        </p:txBody>
      </p:sp>
      <p:sp>
        <p:nvSpPr>
          <p:cNvPr id="19" name="Dates Body"/>
          <p:cNvSpPr txBox="1"/>
          <p:nvPr/>
        </p:nvSpPr>
        <p:spPr>
          <a:xfrm>
            <a:off x="3771900" y="6332220"/>
            <a:ext cx="18288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• </a:t>
            </a:r>
            <a:r>
              <a:rPr lang="en-US" sz="2200" b="1" dirty="0" smtClean="0">
                <a:solidFill>
                  <a:srgbClr val="2C2A28"/>
                </a:solidFill>
                <a:latin typeface="Arial"/>
              </a:rPr>
              <a:t>April 10, 2026</a:t>
            </a:r>
            <a:endParaRPr lang="en-US" sz="2200"/>
          </a:p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  Submission deadline</a:t>
            </a:r>
            <a:endParaRPr lang="en-US" sz="2200"/>
          </a:p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• </a:t>
            </a:r>
            <a:r>
              <a:rPr lang="en-US" sz="2200" b="1" dirty="0" smtClean="0">
                <a:solidFill>
                  <a:srgbClr val="2C2A28"/>
                </a:solidFill>
                <a:latin typeface="Arial"/>
              </a:rPr>
              <a:t>April 24, 2026</a:t>
            </a:r>
            <a:endParaRPr lang="en-US" sz="2200"/>
          </a:p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  Notification of acceptance</a:t>
            </a:r>
            <a:endParaRPr lang="en-US" sz="2200"/>
          </a:p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• </a:t>
            </a:r>
            <a:r>
              <a:rPr lang="en-US" sz="2200" b="1" dirty="0" smtClean="0">
                <a:solidFill>
                  <a:srgbClr val="2C2A28"/>
                </a:solidFill>
                <a:latin typeface="Arial"/>
              </a:rPr>
              <a:t>May 22, 2026</a:t>
            </a:r>
            <a:endParaRPr lang="en-US" sz="2200"/>
          </a:p>
          <a:p>
            <a:pPr algn="l"/>
            <a:r>
              <a:rPr lang="en-US" sz="2200" b="0" dirty="0" smtClean="0">
                <a:solidFill>
                  <a:srgbClr val="2C2A28"/>
                </a:solidFill>
                <a:latin typeface="Arial"/>
              </a:rPr>
              <a:t>  Camera-ready deadline</a:t>
            </a:r>
            <a:endParaRPr lang="en-US" sz="2200"/>
          </a:p>
        </p:txBody>
      </p:sp>
      <p:sp>
        <p:nvSpPr>
          <p:cNvPr id="20" name="Divider 3"/>
          <p:cNvSpPr/>
          <p:nvPr/>
        </p:nvSpPr>
        <p:spPr>
          <a:xfrm>
            <a:off x="548640" y="8275320"/>
            <a:ext cx="5760720" cy="11430"/>
          </a:xfrm>
          <a:prstGeom prst="rect">
            <a:avLst/>
          </a:prstGeom>
          <a:solidFill>
            <a:srgbClr val="E5D9C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Footer"/>
          <p:cNvSpPr txBox="1"/>
          <p:nvPr/>
        </p:nvSpPr>
        <p:spPr>
          <a:xfrm>
            <a:off x="548640" y="8435340"/>
            <a:ext cx="5257800" cy="1600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200" b="0" dirty="0" smtClean="0">
                <a:solidFill>
                  <a:srgbClr val="7A7067"/>
                </a:solidFill>
                <a:latin typeface="Arial"/>
              </a:rPr>
              <a:t>Full CFP and website at https://humansofgenerativeai.github.io/</a:t>
            </a:r>
            <a:endParaRPr lang="en-US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Flyer</vt:lpstr>
    </vt:vector>
  </TitlesOfPart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Humans of Generative AI Flyer</dc:title>
  <dc:creator>Codex</dc:creator>
  <cp:lastModifiedBy>Codex</cp:lastModifiedBy>
  <dcterms:created xsi:type="dcterms:W3CDTF">2026-03-10T00:00:00Z</dcterms:created>
  <dcterms:modified xsi:type="dcterms:W3CDTF">2026-03-10T00:00:00Z</dcterms:modified>
</cp:coreProperties>
</file>